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2EF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EF2C2"/>
                </a:solidFill>
                <a:latin typeface="Readex Pro"/>
              </a:defRPr>
            </a:pPr>
            <a:r>
              <a:t>المسار 01 — الحوار المعرفي والإجابات الموثوقة (بعناصر من المسار 04)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F2F4FF"/>
                </a:solidFill>
                <a:latin typeface="Readex Pro"/>
              </a:defRPr>
            </a:pPr>
            <a:r>
              <a:t>دليل الأحكام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0">
                <a:solidFill>
                  <a:srgbClr val="2EF2C2"/>
                </a:solidFill>
                <a:latin typeface="Readex Pro"/>
              </a:defRPr>
            </a:pPr>
            <a:r>
              <a:t>Dalil Al-Ahkam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بحث دلالي عربي في أحاديث الأحكام: اسأل بلغة الفقه،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فيعيد لك النظام نص الحديث حرفياً من قاعدة البيانات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مع موضعه من مصدره وسنده وحكمه — يسترجع ولا يولّد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2EF2C2"/>
                </a:solidFill>
                <a:latin typeface="Readex Pro"/>
              </a:defRPr>
            </a:pPr>
            <a:r>
              <a:t>العرض الرسمي للتسليم النهائي — islamicaich.org  |  [اسم الفريق]  |  [التاريخ]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615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150EA"/>
                </a:solidFill>
                <a:latin typeface="Readex Pro"/>
              </a:defRPr>
            </a:pPr>
            <a:r>
              <a:t>01 — المشكلة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12183F"/>
                </a:solidFill>
                <a:latin typeface="Readex Pro"/>
              </a:defRPr>
            </a:pPr>
            <a:r>
              <a:t>النماذج العامة تهلوس… والباحث يضيع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نماذج الدردشة العامة تخترع نصوص الأحاديث وأحكامها — فشل مرفوض مع المصادر الشرعية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الباحث الفقهي يضيع بين آلاف الصفحات للوصول إلى حديث الحكم وموضعه من مصدره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لا عزو للمصدر، لا تمييز للصحيح، ولا شفافية حول دور 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2EF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EF2C2"/>
                </a:solidFill>
                <a:latin typeface="Readex Pro"/>
              </a:defRPr>
            </a:pPr>
            <a:r>
              <a:t>02 — الحل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F2F4FF"/>
                </a:solidFill>
                <a:latin typeface="Readex Pro"/>
              </a:defRPr>
            </a:pPr>
            <a:r>
              <a:t>يسترجع ولا يولّد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نص الحديث يُعرض حرفياً من PostgreSQL — الذكاء الاصطناعي لا يكتب الحديث أبداً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كل حديث: الكتاب + الطبعة + الجزء + الصفحة + الرقم + رابط PDF + السند + الحكم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بلا ملخص آلي افتراضياً (RAG_ANSWER_ENABLED=false): الأدلة وحدها، وخلاصة موثقة عند التفعيل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عتبة صلة 40%: عند غياب الدليل يعلن النظام عدم المطابقة بدل الاختراع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615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150EA"/>
                </a:solidFill>
                <a:latin typeface="Readex Pro"/>
              </a:defRPr>
            </a:pPr>
            <a:r>
              <a:t>03 — آلية العمل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12183F"/>
                </a:solidFill>
                <a:latin typeface="Readex Pro"/>
              </a:defRPr>
            </a:pPr>
            <a:r>
              <a:t>ست مراحل… ≈ $0.002 للطلب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1) سؤال عربي → 2) إعادة صياغة Gemini 3.5 Flash Lite (Google)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3) تضمين BGE-M3 عبر Cloudflare (1024 بُعد) + بحث pgvector لأعلى 30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4) ترتيب Cohere متعدد اللغات مقابل السؤال الأصلي → أعلى 3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5) جلب مباشر من PostgreSQL (نص + سند + حكم — صفوف حرفية)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6) خلاصة مؤصلة (اختيارية، معطلة افتراضياً) + حفظ التشغيل بالتكلفة والزمن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6150EA"/>
                </a:solidFill>
                <a:latin typeface="Readex Pro"/>
              </a:defRPr>
            </a:pPr>
            <a:r>
              <a:t>تدهور لطيف في كل مرحلة: غياب مفتاح أو تعثر مزود لا يحجب الطلب أبداً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2EF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EF2C2"/>
                </a:solidFill>
                <a:latin typeface="Readex Pro"/>
              </a:defRPr>
            </a:pPr>
            <a:r>
              <a:t>04 — النموذج الحي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F2F4FF"/>
                </a:solidFill>
                <a:latin typeface="Readex Pro"/>
              </a:defRPr>
            </a:pPr>
            <a:r>
              <a:t>صفحة /ask — محادثة + بطاقات أدلة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أسلوب محادثة مع مقترحات بداية ومؤشر كتابة وتمرير تلقائي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بطاقة كل حديث: الترتيب + الموضوع + النص + العزو + السند المرئي + الحكم + أقوال أخرى + PDF + تصدير txt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سطر التكلفة والزمن تحت كل إجابة + ملاحظة: نصوص الأحاديث من قاعدة البيانات مباشرة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تقييم 5 نجوم + حفظ في مجلدات + تبليغ عن نتيجة خاطئة + سجل بحث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2EF2C2"/>
                </a:solidFill>
                <a:latin typeface="Readex Pro"/>
              </a:defRPr>
            </a:pPr>
            <a:r>
              <a:t>الرابط المباشر (live demo): [يُملأ بعد النشر على Vercel]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615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150EA"/>
                </a:solidFill>
                <a:latin typeface="Readex Pro"/>
              </a:defRPr>
            </a:pPr>
            <a:r>
              <a:t>05 — الأثر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12183F"/>
                </a:solidFill>
                <a:latin typeface="Readex Pro"/>
              </a:defRPr>
            </a:pPr>
            <a:r>
              <a:t>أرقام حقيقية… لا أمثلة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كتابان معتمدان من الشاملة: المحرر في الحديث (1450) + عمدة الأحكام الكبرى (1206)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2,656 صفاً — 2,213 حديثاً قابلاً للبحث، كلها مضمّنة (1024 بُعداً)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100% عزو للمصدر · صفر توليد لنصوص الأحاديث · $0.002 للطلب (البند الوحيد: الترتيب)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قابل للتوسع: سكربت sync_shamela.py لأي كتاب جديد + إعادة تضمين واحدة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2EF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EF2C2"/>
                </a:solidFill>
                <a:latin typeface="Readex Pro"/>
              </a:defRPr>
            </a:pPr>
            <a:r>
              <a:t>06 — التماهي مع المرجعية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F2F4FF"/>
                </a:solidFill>
                <a:latin typeface="Readex Pro"/>
              </a:defRPr>
            </a:pPr>
            <a:r>
              <a:t>داخل المستويين (أ) و (ب)… ولا نقترب من (د)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كل معلومة تُعزى لمصدرها: كتاب + طبعة + جزء + صفحة + رقم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السنة الصحيحة من الشاملة (shamela.ws) — ضمن قائمة المصادر المعتمدة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لا فتاوى شخصية: نسترجع حكم المحقق في المصدر فقط، مع الأقوال الأخرى عند الخلاف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شفافية AI: أي ملخص موسوم ومنفصل · لا بيانات شخصية · واجهة عربية/إنجليزية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615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6150EA"/>
                </a:solidFill>
                <a:latin typeface="Readex Pro"/>
              </a:defRPr>
            </a:pPr>
            <a:r>
              <a:t>07 — آلية التسليم على منصة التحدي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12183F"/>
                </a:solidFill>
                <a:latin typeface="Readex Pro"/>
              </a:defRPr>
            </a:pPr>
            <a:r>
              <a:t>سبعة حقول إلزامية على islamicaich.org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1) اسم المشروع: دليل الأحكام  2) الوصف  3) المسار 01  4) هذا العرض (≤10MB)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5) فيديو YouTube ≤ دقيقتين  6) مستودع GitHub  7) رابط live demo — ثم حفظ وارسال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الخطوات: تسجيل الدخول → لوحة التحكم → بيانات المشاركة → تسليم المشروع → النموذج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بعد الإرسال: تم الحفظ بنجاح + جدول التسليمات (عرض/تعديل قبل إغلاق البوابة)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6150EA"/>
                </a:solidFill>
                <a:latin typeface="Readex Pro"/>
              </a:defRPr>
            </a:pPr>
            <a:r>
              <a:t>قالب العرض: احذف الشرائح 1–7 من القالب الرسمي قبل الإرسال — قناة Discord إلزامية للمتابعة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2EF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EF2C2"/>
                </a:solidFill>
                <a:latin typeface="Readex Pro"/>
              </a:defRPr>
            </a:pPr>
            <a:r>
              <a:t>08 — الفريق والروابط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F2F4FF"/>
                </a:solidFill>
                <a:latin typeface="Readex Pro"/>
              </a:defRPr>
            </a:pPr>
            <a:r>
              <a:t>الفريق + كل روابط التسليم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[اسم الفريق] — برمجة / بيانات / بحث شرعي / منتج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GitHub (الكود المصدري): [رابط المستودع العام]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Live demo: [رابط Vercel]  ·  فيديو الدقيقتين: [رابط YouTube]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التواصل: [بريد/ديسكورد] — الروابط تُختبر من نافذة incognito قبل الإرسال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1097280" cy="73152"/>
          </a:xfrm>
          <a:prstGeom prst="rect">
            <a:avLst/>
          </a:prstGeom>
          <a:solidFill>
            <a:srgbClr val="615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12183F"/>
                </a:solidFill>
                <a:latin typeface="Readex Pro"/>
              </a:defRPr>
            </a:pPr>
            <a:r>
              <a:t>شكراً لكم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0">
                <a:solidFill>
                  <a:srgbClr val="6150EA"/>
                </a:solidFill>
                <a:latin typeface="Readex Pro"/>
              </a:defRPr>
            </a:pPr>
            <a:r>
              <a:t>نُعلّم الآلة… لتخدم الرسالة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1088136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دليل الأحكام — بحث دلالي موثوق في أحاديث الأحكام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2000" b="0">
                <a:solidFill>
                  <a:srgbClr val="12183F"/>
                </a:solidFill>
                <a:latin typeface="Readex Pro"/>
              </a:defRPr>
            </a:pPr>
            <a:r>
              <a:t>◾ المصدر: الشاملة · التقنية: pgvector + BGE-M3 + Cohere +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0">
                <a:solidFill>
                  <a:srgbClr val="6150EA"/>
                </a:solidFill>
                <a:latin typeface="Readex Pro"/>
              </a:defRPr>
            </a:pPr>
            <a:r>
              <a:t>شركاؤنا: [يُملأ]  |  islamicaich.org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8A8FA8"/>
                </a:solidFill>
                <a:latin typeface="Readex Pro"/>
              </a:defRPr>
            </a:pPr>
            <a:r>
              <a:t>دليل الأحكام — Dalil Al-Ahkam  |  تحدي الذكاء الاصطناعي في خدمة المحتوى الإسلامي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